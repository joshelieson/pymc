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384048" cy="73152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12064"/>
            <a:ext cx="274320" cy="73152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E6F2"/>
                </a:solidFill>
                <a:latin typeface="Georgia"/>
              </a:rPr>
              <a:t>MERIDIAN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27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A94"/>
                </a:solidFill>
                <a:latin typeface="Calibri"/>
              </a:rPr>
              <a:t>Meridian Supply Co.  |  Confidential - Board use only  |  Q2 2026 Board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A94"/>
                </a:solidFill>
                <a:latin typeface="Calibri"/>
              </a:rPr>
              <a:t>1 / 4</a:t>
            </a:r>
          </a:p>
        </p:txBody>
      </p:sp>
      <p:sp>
        <p:nvSpPr>
          <p:cNvPr id="9" name="Parallelogram 8"/>
          <p:cNvSpPr/>
          <p:nvPr/>
        </p:nvSpPr>
        <p:spPr>
          <a:xfrm>
            <a:off x="7498079" y="-914400"/>
            <a:ext cx="2011680" cy="9144000"/>
          </a:xfrm>
          <a:prstGeom prst="parallelogram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2C14E"/>
                </a:solidFill>
                <a:latin typeface="Calibri"/>
              </a:rPr>
              <a:t>Q2 2026 BOARD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CE6F2"/>
                </a:solidFill>
                <a:latin typeface="Georgia"/>
              </a:rPr>
              <a:t>Meridian Supply 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C8A94"/>
                </a:solidFill>
                <a:latin typeface="Calibri"/>
              </a:rPr>
              <a:t>Revenue, margin and what we do next quarter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384048" cy="73152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12064"/>
            <a:ext cx="274320" cy="73152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E6F2"/>
                </a:solidFill>
                <a:latin typeface="Georgia"/>
              </a:rPr>
              <a:t>MERIDIAN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27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A94"/>
                </a:solidFill>
                <a:latin typeface="Calibri"/>
              </a:rPr>
              <a:t>Meridian Supply Co.  |  Confidential - Board use only  |  Q2 2026 Board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A94"/>
                </a:solidFill>
                <a:latin typeface="Calibri"/>
              </a:rPr>
              <a:t>2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CE6F2"/>
                </a:solidFill>
                <a:latin typeface="Georgia"/>
              </a:rPr>
              <a:t>Revenue grew 14%, but margin fell for the third quarter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596896"/>
            <a:ext cx="109728" cy="10972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E6F2"/>
                </a:solidFill>
                <a:latin typeface="Calibri"/>
              </a:rPr>
              <a:t>Net revenue EUR 48.2M, +14% YoY, led by dive gear in DACH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374136"/>
            <a:ext cx="109728" cy="10972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E6F2"/>
                </a:solidFill>
                <a:latin typeface="Calibri"/>
              </a:rPr>
              <a:t>Gross margin 31.4%, down 2.1 pts on freight and oyster-sauce discounting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151376"/>
            <a:ext cx="109728" cy="10972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E6F2"/>
                </a:solidFill>
                <a:latin typeface="Calibri"/>
              </a:rPr>
              <a:t>Returns rate 6.8%, up from 4.9%; concentrated in car-oil SKUs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377440"/>
            <a:ext cx="3840480" cy="3108960"/>
          </a:xfrm>
          <a:prstGeom prst="rect">
            <a:avLst/>
          </a:prstGeom>
          <a:solidFill>
            <a:srgbClr val="2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560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4A"/>
                </a:solidFill>
                <a:latin typeface="Georgia"/>
              </a:rPr>
              <a:t>EUR 48.2M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A94"/>
                </a:solidFill>
                <a:latin typeface="Calibri"/>
              </a:rPr>
              <a:t>net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520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4A"/>
                </a:solidFill>
                <a:latin typeface="Georgia"/>
              </a:rPr>
              <a:t>31.4%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A94"/>
                </a:solidFill>
                <a:latin typeface="Calibri"/>
              </a:rPr>
              <a:t>gross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480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4A"/>
                </a:solidFill>
                <a:latin typeface="Georgia"/>
              </a:rPr>
              <a:t>6.8%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A94"/>
                </a:solidFill>
                <a:latin typeface="Calibri"/>
              </a:rPr>
              <a:t>returns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384048" cy="73152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12064"/>
            <a:ext cx="274320" cy="73152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E6F2"/>
                </a:solidFill>
                <a:latin typeface="Georgia"/>
              </a:rPr>
              <a:t>MERIDIAN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27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A94"/>
                </a:solidFill>
                <a:latin typeface="Calibri"/>
              </a:rPr>
              <a:t>Meridian Supply Co.  |  Confidential - Board use only  |  Q2 2026 Board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A94"/>
                </a:solidFill>
                <a:latin typeface="Calibri"/>
              </a:rPr>
              <a:t>3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CE6F2"/>
                </a:solidFill>
                <a:latin typeface="Georgia"/>
              </a:rPr>
              <a:t>Ad spend is up 40%; we cannot yet show it paid for itself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596896"/>
            <a:ext cx="109728" cy="10972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E6F2"/>
                </a:solidFill>
                <a:latin typeface="Calibri"/>
              </a:rPr>
              <a:t>Paid search and social spend EUR 3.1M in H1, +40% YoY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374136"/>
            <a:ext cx="109728" cy="10972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E6F2"/>
                </a:solidFill>
                <a:latin typeface="Calibri"/>
              </a:rPr>
              <a:t>Attribution model is last-click only; no holdout has been run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151376"/>
            <a:ext cx="109728" cy="10972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E6F2"/>
                </a:solidFill>
                <a:latin typeface="Calibri"/>
              </a:rPr>
              <a:t>Proposal: geo holdout on search in Q3, read-out before the Q4 budget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377440"/>
            <a:ext cx="3840480" cy="3108960"/>
          </a:xfrm>
          <a:prstGeom prst="rect">
            <a:avLst/>
          </a:prstGeom>
          <a:solidFill>
            <a:srgbClr val="2B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560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4A"/>
                </a:solidFill>
                <a:latin typeface="Georgia"/>
              </a:rPr>
              <a:t>EUR 3.1M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A94"/>
                </a:solidFill>
                <a:latin typeface="Calibri"/>
              </a:rPr>
              <a:t>H1 ad 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520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4A"/>
                </a:solidFill>
                <a:latin typeface="Georgia"/>
              </a:rPr>
              <a:t>+40%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A94"/>
                </a:solidFill>
                <a:latin typeface="Calibri"/>
              </a:rPr>
              <a:t>YoY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480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4A"/>
                </a:solidFill>
                <a:latin typeface="Georgia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A94"/>
                </a:solidFill>
                <a:latin typeface="Calibri"/>
              </a:rPr>
              <a:t>holdouts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384048" cy="73152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12064"/>
            <a:ext cx="274320" cy="73152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E6F2"/>
                </a:solidFill>
                <a:latin typeface="Georgia"/>
              </a:rPr>
              <a:t>MERIDIAN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27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8A94"/>
                </a:solidFill>
                <a:latin typeface="Calibri"/>
              </a:rPr>
              <a:t>Meridian Supply Co.  |  Confidential - Board use only  |  Q2 2026 Board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A94"/>
                </a:solidFill>
                <a:latin typeface="Calibri"/>
              </a:rPr>
              <a:t>4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CE6F2"/>
                </a:solidFill>
                <a:latin typeface="Georgia"/>
              </a:rPr>
              <a:t>Decisions requested today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596896"/>
            <a:ext cx="109728" cy="10972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E6F2"/>
                </a:solidFill>
                <a:latin typeface="Calibri"/>
              </a:rPr>
              <a:t>Approve Q3 geo holdout on paid search (EUR 120k)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374136"/>
            <a:ext cx="109728" cy="10972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E6F2"/>
                </a:solidFill>
                <a:latin typeface="Calibri"/>
              </a:rPr>
              <a:t>Approve returns-reduction programme for car-oil SKUs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151376"/>
            <a:ext cx="109728" cy="10972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E6F2"/>
                </a:solidFill>
                <a:latin typeface="Calibri"/>
              </a:rPr>
              <a:t>Note the revised Q3 revenue guidance of EUR 24-26M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